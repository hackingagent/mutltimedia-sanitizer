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5.png" ContentType="image/png"/>
  <Override PartName="/ppt/media/image56.svg" ContentType="image/svg"/>
  <Override PartName="/ppt/media/image3.png" ContentType="image/png"/>
  <Override PartName="/ppt/media/image54.svg" ContentType="image/svg"/>
  <Override PartName="/ppt/media/image1.png" ContentType="image/png"/>
  <Override PartName="/ppt/media/image52.svg" ContentType="image/svg"/>
  <Override PartName="/ppt/media/image51.png" ContentType="image/png"/>
  <Override PartName="/ppt/media/image50.svg" ContentType="image/svg"/>
  <Override PartName="/ppt/media/image48.svg" ContentType="image/svg"/>
  <Override PartName="/ppt/media/image59.png" ContentType="image/png"/>
  <Override PartName="/ppt/media/image7.png" ContentType="image/png"/>
  <Override PartName="/ppt/media/image53.png" ContentType="image/png"/>
  <Override PartName="/ppt/media/image18.svg" ContentType="image/svg"/>
  <Override PartName="/ppt/media/image58.svg" ContentType="image/svg"/>
  <Override PartName="/ppt/media/image20.svg" ContentType="image/svg"/>
  <Override PartName="/ppt/media/image38.svg" ContentType="image/svg"/>
  <Override PartName="/ppt/media/image19.png" ContentType="image/png"/>
  <Override PartName="/ppt/media/image16.svg" ContentType="image/svg"/>
  <Override PartName="/ppt/media/image10.svg" ContentType="image/svg"/>
  <Override PartName="/ppt/media/image21.png" ContentType="image/png"/>
  <Override PartName="/ppt/media/image33.png" ContentType="image/png"/>
  <Override PartName="/ppt/media/image43.png" ContentType="image/png"/>
  <Override PartName="/ppt/media/image23.png" ContentType="image/png"/>
  <Override PartName="/ppt/media/image24.svg" ContentType="image/svg"/>
  <Override PartName="/ppt/media/image57.png" ContentType="image/png"/>
  <Override PartName="/ppt/media/image14.svg" ContentType="image/svg"/>
  <Override PartName="/ppt/media/image26.svg" ContentType="image/svg"/>
  <Override PartName="/ppt/media/image62.svg" ContentType="image/svg"/>
  <Override PartName="/ppt/media/image45.png" ContentType="image/png"/>
  <Override PartName="/ppt/media/image27.png" ContentType="image/png"/>
  <Override PartName="/ppt/media/image25.png" ContentType="image/png"/>
  <Override PartName="/ppt/media/image36.svg" ContentType="image/svg"/>
  <Override PartName="/ppt/media/image70.svg" ContentType="image/svg"/>
  <Override PartName="/ppt/media/image34.svg" ContentType="image/svg"/>
  <Override PartName="/ppt/media/image69.png" ContentType="image/png"/>
  <Override PartName="/ppt/media/image9.png" ContentType="image/png"/>
  <Override PartName="/ppt/media/image12.svg" ContentType="image/svg"/>
  <Override PartName="/ppt/media/image17.png" ContentType="image/png"/>
  <Override PartName="/ppt/media/image67.png" ContentType="image/png"/>
  <Override PartName="/ppt/media/image66.svg" ContentType="image/svg"/>
  <Override PartName="/ppt/media/image29.png" ContentType="image/png"/>
  <Override PartName="/ppt/media/image47.png" ContentType="image/png"/>
  <Override PartName="/ppt/media/image32.svg" ContentType="image/svg"/>
  <Override PartName="/ppt/media/image37.png" ContentType="image/png"/>
  <Override PartName="/ppt/media/image63.png" ContentType="image/png"/>
  <Override PartName="/ppt/media/image61.png" ContentType="image/png"/>
  <Override PartName="/ppt/media/image30.svg" ContentType="image/svg"/>
  <Override PartName="/ppt/media/image64.svg" ContentType="image/svg"/>
  <Override PartName="/ppt/media/image39.png" ContentType="image/png"/>
  <Override PartName="/ppt/media/image65.png" ContentType="image/png"/>
  <Override PartName="/ppt/media/image2.svg" ContentType="image/svg"/>
  <Override PartName="/ppt/media/image22.svg" ContentType="image/svg"/>
  <Override PartName="/ppt/media/image4.svg" ContentType="image/svg"/>
  <Override PartName="/ppt/media/image49.png" ContentType="image/png"/>
  <Override PartName="/ppt/media/image41.png" ContentType="image/png"/>
  <Override PartName="/ppt/media/image35.png" ContentType="image/png"/>
  <Override PartName="/ppt/media/image6.svg" ContentType="image/svg"/>
  <Override PartName="/ppt/media/image15.png" ContentType="image/png"/>
  <Override PartName="/ppt/media/image13.png" ContentType="image/png"/>
  <Override PartName="/ppt/media/image68.svg" ContentType="image/svg"/>
  <Override PartName="/ppt/media/image60.svg" ContentType="image/svg"/>
  <Override PartName="/ppt/media/image40.svg" ContentType="image/svg"/>
  <Override PartName="/ppt/media/image55.png" ContentType="image/png"/>
  <Override PartName="/ppt/media/image8.svg" ContentType="image/svg"/>
  <Override PartName="/ppt/media/image11.png" ContentType="image/png"/>
  <Override PartName="/ppt/media/image31.png" ContentType="image/png"/>
  <Override PartName="/ppt/media/image28.svg" ContentType="image/svg"/>
  <Override PartName="/ppt/media/image42.svg" ContentType="image/svg"/>
  <Override PartName="/ppt/media/image44.svg" ContentType="image/svg"/>
  <Override PartName="/ppt/media/image46.svg" ContentType="image/sv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18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76EEE0A-53CE-402E-828E-8CECA541DBC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44C55B-BB30-4731-8CDF-C6BF7D6462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C489CE-5B92-4EF3-95FB-5549A7A0D3E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28E8CF-6A4F-41E5-841C-E9D674C6EC6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1A49A-AF53-4CB0-B232-89D1624FC3C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6E196E-A460-4F66-B79B-84B48AAC0D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29D187-D761-4476-8CF4-A884A48B02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8CC14F-D168-4039-9FA1-E2998196C33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2832EF-7ED5-4CD1-B9D8-8E18F907A31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779D4-0569-4E76-8161-FB279CE4A02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A9C140-AB51-457B-BA0F-FDC48CF508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8995D1-A4FD-40FE-901A-3C9BA144CC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C18C4A-B789-4F23-8A49-1AA72349F8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9BF0A-059B-4A9D-A451-1C4F3606C4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52AB05-147F-416A-81F9-8067C243215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C57574-517A-4D73-893A-09883C44588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D15930-0C60-40FB-95DC-269B747C973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1C5F6-D517-4C33-AF3F-4997775ECEC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EAF5E7-2832-4CF2-ACDD-5623D1D803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3.png"/><Relationship Id="rId6" Type="http://schemas.openxmlformats.org/officeDocument/2006/relationships/image" Target="../media/image24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svg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png"/><Relationship Id="rId8" Type="http://schemas.openxmlformats.org/officeDocument/2006/relationships/image" Target="../media/image32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svg"/><Relationship Id="rId3" Type="http://schemas.openxmlformats.org/officeDocument/2006/relationships/image" Target="../media/image35.png"/><Relationship Id="rId4" Type="http://schemas.openxmlformats.org/officeDocument/2006/relationships/image" Target="../media/image36.svg"/><Relationship Id="rId5" Type="http://schemas.openxmlformats.org/officeDocument/2006/relationships/image" Target="../media/image37.png"/><Relationship Id="rId6" Type="http://schemas.openxmlformats.org/officeDocument/2006/relationships/image" Target="../media/image38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svg"/><Relationship Id="rId3" Type="http://schemas.openxmlformats.org/officeDocument/2006/relationships/image" Target="../media/image41.png"/><Relationship Id="rId4" Type="http://schemas.openxmlformats.org/officeDocument/2006/relationships/image" Target="../media/image42.svg"/><Relationship Id="rId5" Type="http://schemas.openxmlformats.org/officeDocument/2006/relationships/image" Target="../media/image43.png"/><Relationship Id="rId6" Type="http://schemas.openxmlformats.org/officeDocument/2006/relationships/image" Target="../media/image44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svg"/><Relationship Id="rId3" Type="http://schemas.openxmlformats.org/officeDocument/2006/relationships/image" Target="../media/image47.png"/><Relationship Id="rId4" Type="http://schemas.openxmlformats.org/officeDocument/2006/relationships/image" Target="../media/image48.svg"/><Relationship Id="rId5" Type="http://schemas.openxmlformats.org/officeDocument/2006/relationships/image" Target="../media/image49.png"/><Relationship Id="rId6" Type="http://schemas.openxmlformats.org/officeDocument/2006/relationships/image" Target="../media/image50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svg"/><Relationship Id="rId3" Type="http://schemas.openxmlformats.org/officeDocument/2006/relationships/image" Target="../media/image53.png"/><Relationship Id="rId4" Type="http://schemas.openxmlformats.org/officeDocument/2006/relationships/image" Target="../media/image54.svg"/><Relationship Id="rId5" Type="http://schemas.openxmlformats.org/officeDocument/2006/relationships/image" Target="../media/image55.png"/><Relationship Id="rId6" Type="http://schemas.openxmlformats.org/officeDocument/2006/relationships/image" Target="../media/image5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svg"/><Relationship Id="rId3" Type="http://schemas.openxmlformats.org/officeDocument/2006/relationships/image" Target="../media/image61.png"/><Relationship Id="rId4" Type="http://schemas.openxmlformats.org/officeDocument/2006/relationships/image" Target="../media/image6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svg"/><Relationship Id="rId3" Type="http://schemas.openxmlformats.org/officeDocument/2006/relationships/image" Target="../media/image65.png"/><Relationship Id="rId4" Type="http://schemas.openxmlformats.org/officeDocument/2006/relationships/image" Target="../media/image66.svg"/><Relationship Id="rId5" Type="http://schemas.openxmlformats.org/officeDocument/2006/relationships/image" Target="../media/image67.png"/><Relationship Id="rId6" Type="http://schemas.openxmlformats.org/officeDocument/2006/relationships/image" Target="../media/image68.svg"/><Relationship Id="rId7" Type="http://schemas.openxmlformats.org/officeDocument/2006/relationships/image" Target="../media/image69.png"/><Relationship Id="rId8" Type="http://schemas.openxmlformats.org/officeDocument/2006/relationships/image" Target="../media/image70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01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160" y="681120"/>
            <a:ext cx="7681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45"/>
              </a:lnSpc>
              <a:spcAft>
                <a:spcPts val="1216"/>
              </a:spcAft>
              <a:tabLst>
                <a:tab algn="l" pos="0"/>
              </a:tabLst>
            </a:pPr>
            <a:r>
              <a:rPr b="1" lang="en-US" sz="12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GROUP ONE — CENP6213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31160" y="1083240"/>
            <a:ext cx="7681680" cy="13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292"/>
              </a:lnSpc>
              <a:spcAft>
                <a:spcPts val="1621"/>
              </a:spcAft>
              <a:tabLst>
                <a:tab algn="l" pos="0"/>
              </a:tabLst>
            </a:pPr>
            <a:r>
              <a:rPr b="1" lang="en-US" sz="5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Multimedia Computing &amp; Security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731520" y="2632680"/>
            <a:ext cx="91404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31520" y="2858400"/>
            <a:ext cx="59432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8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 Systematic Understanding of Multimedia Computing and Main Security Problems Involving Multimedia Data and Devices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31160" y="4161240"/>
            <a:ext cx="76816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spcBef>
                <a:spcPts val="1621"/>
              </a:spcBef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College of Technology — University of Bamenda · May 2026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72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02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731160" y="30852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2024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Table of Contents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731160" y="1306800"/>
            <a:ext cx="36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1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279080" y="1252080"/>
            <a:ext cx="30189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Fundamentals of Multimedia Computing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4845960" y="1306800"/>
            <a:ext cx="36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2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395680" y="1416240"/>
            <a:ext cx="2828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Data Compression Techniques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731160" y="2039040"/>
            <a:ext cx="36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3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1279080" y="2148480"/>
            <a:ext cx="246672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Security Threat Taxonomy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4845960" y="2039040"/>
            <a:ext cx="36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4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395680" y="2148480"/>
            <a:ext cx="27572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Device and IoT Vulnerabilities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731160" y="2716200"/>
            <a:ext cx="36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5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1279080" y="2825640"/>
            <a:ext cx="2395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Practical Implementation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4845960" y="2716200"/>
            <a:ext cx="36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5394600" y="2825640"/>
            <a:ext cx="2199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Protection Mechanisms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731160" y="3448080"/>
            <a:ext cx="366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7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1143000" y="3657600"/>
            <a:ext cx="30189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Conclusions and Recommendations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03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CHAPTER 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What is Multimedia Computing?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731520" y="1672560"/>
            <a:ext cx="6857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6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The integration of multiple media types within a unified digital environment — enabling processing, storage, transmission, and presentation of heterogeneous data.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732600" y="3071880"/>
            <a:ext cx="1780920" cy="13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732600" y="3194640"/>
            <a:ext cx="178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Text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732600" y="3657240"/>
            <a:ext cx="178092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15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ASCII / Unicode — highly compressible, no time constraints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2698560" y="3071880"/>
            <a:ext cx="1780920" cy="13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2698560" y="3194640"/>
            <a:ext cx="178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Images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2698560" y="3657240"/>
            <a:ext cx="178092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15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2D spatial arrays — binary, grayscale, or colour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4664520" y="3071880"/>
            <a:ext cx="1780920" cy="13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4664520" y="3194640"/>
            <a:ext cx="178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Audio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4664520" y="3657240"/>
            <a:ext cx="178092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15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Time-dependent waveforms — sampled and quantized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6630480" y="3071880"/>
            <a:ext cx="1780920" cy="13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6630480" y="3194640"/>
            <a:ext cx="178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Video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6630480" y="3657240"/>
            <a:ext cx="178092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15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Image sequences + synchronized audio — high bandwidth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2600" y="3071880"/>
            <a:ext cx="1780920" cy="135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698560" y="3071880"/>
            <a:ext cx="1780920" cy="135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664520" y="3071880"/>
            <a:ext cx="1780920" cy="135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30480" y="3071880"/>
            <a:ext cx="1780920" cy="135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04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MATHEMATICAL FOUNDATIONS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Digital Image Representation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731160" y="1672560"/>
            <a:ext cx="76816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80"/>
              </a:lnSpc>
              <a:spcAft>
                <a:spcPts val="162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An image is modelled as a 2D function f(x, y) where x and y are spatial coordinates and f is the pixel intensity at that point.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730440" y="2610720"/>
            <a:ext cx="37047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938520" y="2609640"/>
            <a:ext cx="34952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Intensity range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938520" y="3071880"/>
            <a:ext cx="34952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spcAft>
                <a:spcPts val="405"/>
              </a:spcAft>
              <a:tabLst>
                <a:tab algn="l" pos="0"/>
              </a:tabLst>
            </a:pPr>
            <a:r>
              <a:rPr b="0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f(x, y) ∈ [0, L−1]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938520" y="3453120"/>
            <a:ext cx="34952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For 8-bit images: L = 256 levels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4708080" y="2610720"/>
            <a:ext cx="37047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4916160" y="2609640"/>
            <a:ext cx="34952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Storage formula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4916160" y="3071880"/>
            <a:ext cx="34952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spcAft>
                <a:spcPts val="405"/>
              </a:spcAft>
              <a:tabLst>
                <a:tab algn="l" pos="0"/>
              </a:tabLst>
            </a:pPr>
            <a:r>
              <a:rPr b="0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Size = M × N × b bits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4916160" y="3453120"/>
            <a:ext cx="34952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1920×1080 at 24 bits ≈ 5.9 MB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0440" y="2610720"/>
            <a:ext cx="370476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08080" y="2610720"/>
            <a:ext cx="3704760" cy="114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05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CHAPTER 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Color Spaces and Audio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732600" y="1672560"/>
            <a:ext cx="360972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YCbCr Color Space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732600" y="2161080"/>
            <a:ext cx="3609720" cy="12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34"/>
              </a:lnSpc>
              <a:spcAft>
                <a:spcPts val="1012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Separates brightness (Y) from colour (Cb, Cr) — the eye is more sensitive to brightness, so chrominance can be compressed more aggressively.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732600" y="3576960"/>
            <a:ext cx="36097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monospace"/>
                <a:ea typeface="monospace"/>
              </a:rPr>
              <a:t>Y = 0.299R + 0.587G + 0.114B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4801680" y="1672560"/>
            <a:ext cx="360972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Audio Digitization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4801680" y="2161080"/>
            <a:ext cx="3609720" cy="12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34"/>
              </a:lnSpc>
              <a:spcAft>
                <a:spcPts val="1012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Nyquist-Shannon theorem: the sampling rate must be at least twice the highest signal frequency to reconstruct the original sound.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4801680" y="3575160"/>
            <a:ext cx="360972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CD Audio: 44.1 kHz × 16-bit × 2 ch = </a:t>
            </a:r>
            <a:r>
              <a:rPr b="1" lang="en-US" sz="15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1.41 Mbps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06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LOSSLESS COMPRESSION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Huffman Coding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731520" y="1655280"/>
            <a:ext cx="6400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80"/>
              </a:lnSpc>
              <a:spcAft>
                <a:spcPts val="162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Assigns shorter binary codes to more frequent symbols — achieving optimal lossless compression without losing any information.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732600" y="295812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Symbol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2012760" y="295812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Probability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3292920" y="295812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Code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732600" y="332136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2012760" y="332136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0.50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3292920" y="332136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732600" y="368496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B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2012760" y="368496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0.25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3292920" y="368496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10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732600" y="404820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2012760" y="404820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0.15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3292920" y="404820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110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732600" y="441144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2012760" y="441144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0.10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3292920" y="4411440"/>
            <a:ext cx="1095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111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4754880" y="3119040"/>
            <a:ext cx="3657240" cy="15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3"/>
          <p:cNvSpPr/>
          <p:nvPr/>
        </p:nvSpPr>
        <p:spPr>
          <a:xfrm>
            <a:off x="5054040" y="3118320"/>
            <a:ext cx="3357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Result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4"/>
          <p:cNvSpPr/>
          <p:nvPr/>
        </p:nvSpPr>
        <p:spPr>
          <a:xfrm>
            <a:off x="5054040" y="3564360"/>
            <a:ext cx="3357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spcAft>
                <a:spcPts val="607"/>
              </a:spcAft>
              <a:tabLst>
                <a:tab algn="l" pos="0"/>
              </a:tabLst>
            </a:pPr>
            <a:r>
              <a:rPr b="0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Average: </a:t>
            </a:r>
            <a:r>
              <a:rPr b="1" lang="en-US" sz="17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1.75 bits/symbol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5054040" y="3970440"/>
            <a:ext cx="3357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spcAft>
                <a:spcPts val="607"/>
              </a:spcAft>
              <a:tabLst>
                <a:tab algn="l" pos="0"/>
              </a:tabLst>
            </a:pPr>
            <a:r>
              <a:rPr b="0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Fixed-length: 2.00 bits/symbol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5054040" y="4376880"/>
            <a:ext cx="3357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91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Saving: </a:t>
            </a:r>
            <a:r>
              <a:rPr b="1" lang="en-US" sz="17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12.5%</a:t>
            </a:r>
            <a:r>
              <a:rPr b="0" lang="en-US" sz="17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 reduction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754880" y="3119040"/>
            <a:ext cx="3657240" cy="158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07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LOSSY COMPRESSION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Discrete Cosine Transform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730440" y="1674360"/>
            <a:ext cx="71337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80"/>
              </a:lnSpc>
              <a:spcAft>
                <a:spcPts val="162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Converts image blocks from spatial to frequency domain — concentrating energy into a few low-frequency coefficients that are kept, while high-frequency detail is discarded.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731520" y="2975760"/>
            <a:ext cx="3657240" cy="14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937080" y="2975400"/>
            <a:ext cx="34524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PSNR Quality Scale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937080" y="3438000"/>
            <a:ext cx="34524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spcAft>
                <a:spcPts val="323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Above 40 dB — Excellent quality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937080" y="3794400"/>
            <a:ext cx="34524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spcAft>
                <a:spcPts val="323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Above 30 dB — Acceptable quality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937080" y="4151160"/>
            <a:ext cx="34524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Below 25 dB — Visible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4754880" y="2975760"/>
            <a:ext cx="3657240" cy="14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4960440" y="2975400"/>
            <a:ext cx="34524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Used in Standards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4960440" y="3437640"/>
            <a:ext cx="3452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spcAft>
                <a:spcPts val="323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JPEG — image compression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4960440" y="3821400"/>
            <a:ext cx="3452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MPEG — video coding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520" y="2975760"/>
            <a:ext cx="3657240" cy="149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54880" y="2975760"/>
            <a:ext cx="3657240" cy="149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08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PERCEPTUAL COMPUTING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Human Visual System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731520" y="1672560"/>
            <a:ext cx="685764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80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The eye's selective sensitivity to light and detail directly shapes how multimedia compression and security systems are designed.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8"/>
          <p:cNvSpPr/>
          <p:nvPr/>
        </p:nvSpPr>
        <p:spPr>
          <a:xfrm>
            <a:off x="731880" y="2660760"/>
            <a:ext cx="23760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731880" y="2815200"/>
            <a:ext cx="237600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Luminance Sensitivity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731880" y="3659760"/>
            <a:ext cx="237600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More sensitive to brightness than colour — drives use of YCbCr in compression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3383640" y="2660760"/>
            <a:ext cx="23760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3383640" y="281376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Frequency Masking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3383640" y="3275640"/>
            <a:ext cx="237600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Less sensitive to high-frequency detail — DCT can discard fine texture safely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6035400" y="2660760"/>
            <a:ext cx="237600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6035400" y="281376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Texture Masking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6035400" y="3275640"/>
            <a:ext cx="237600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75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Noise less visible in textured regions — allows stronger watermark embedding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880" y="2660760"/>
            <a:ext cx="237600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83640" y="2660760"/>
            <a:ext cx="237600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035400" y="2660760"/>
            <a:ext cx="2376000" cy="190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09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CHAPTER 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Security Threat Taxonomy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731520" y="1672560"/>
            <a:ext cx="685764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80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Multimedia threats are classified by which security property they violate.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731880" y="2662200"/>
            <a:ext cx="1747440" cy="19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731880" y="2814120"/>
            <a:ext cx="174744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5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C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731880" y="3345840"/>
            <a:ext cx="1747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Confidentiality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731880" y="3766680"/>
            <a:ext cx="174744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Metadata leakage, webcam hijacking, surveillance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2709360" y="2662200"/>
            <a:ext cx="1747440" cy="19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2709360" y="2814120"/>
            <a:ext cx="174744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5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I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2709360" y="3345840"/>
            <a:ext cx="1747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Integrity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2709360" y="3766680"/>
            <a:ext cx="174744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Deepfakes, splicing, copy-move tampering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4686840" y="2662200"/>
            <a:ext cx="1747440" cy="19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7"/>
          <p:cNvSpPr/>
          <p:nvPr/>
        </p:nvSpPr>
        <p:spPr>
          <a:xfrm>
            <a:off x="4686840" y="2814120"/>
            <a:ext cx="174744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5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A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4686840" y="3345840"/>
            <a:ext cx="1747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Availability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4686840" y="3766680"/>
            <a:ext cx="174744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Ransomware, DDoS against streaming platforms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0"/>
          <p:cNvSpPr/>
          <p:nvPr/>
        </p:nvSpPr>
        <p:spPr>
          <a:xfrm>
            <a:off x="6664320" y="2662200"/>
            <a:ext cx="1747440" cy="19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1"/>
          <p:cNvSpPr/>
          <p:nvPr/>
        </p:nvSpPr>
        <p:spPr>
          <a:xfrm>
            <a:off x="6664320" y="2814120"/>
            <a:ext cx="174744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781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5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IP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6664320" y="3345840"/>
            <a:ext cx="1747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01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Copyright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6664320" y="3765600"/>
            <a:ext cx="174744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Piracy, P2P sharing, illegal streaming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880" y="2662200"/>
            <a:ext cx="1747440" cy="190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709360" y="2662200"/>
            <a:ext cx="1747440" cy="190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686840" y="2662200"/>
            <a:ext cx="1747440" cy="190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64320" y="2662200"/>
            <a:ext cx="1747440" cy="190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10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CONFIDENTIALITY VIOLATIONS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EXIF Metadata Leakage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731520" y="1653480"/>
            <a:ext cx="6857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6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Digital images automatically embed location, device, and timestamp data — creating trackable fingerprints that expose users without their knowledge.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731880" y="3052440"/>
            <a:ext cx="237600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731880" y="3205440"/>
            <a:ext cx="23760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spcAft>
                <a:spcPts val="405"/>
              </a:spcAft>
              <a:tabLst>
                <a:tab algn="l" pos="0"/>
              </a:tabLst>
            </a:pPr>
            <a:r>
              <a:rPr b="1" lang="en-US" sz="28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~30%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731880" y="3805920"/>
            <a:ext cx="2376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of publicly shared images retain GPS coordinates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3383640" y="3052440"/>
            <a:ext cx="237600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1"/>
          <p:cNvSpPr/>
          <p:nvPr/>
        </p:nvSpPr>
        <p:spPr>
          <a:xfrm>
            <a:off x="3383640" y="320436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Physical tracking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2"/>
          <p:cNvSpPr/>
          <p:nvPr/>
        </p:nvSpPr>
        <p:spPr>
          <a:xfrm>
            <a:off x="3383640" y="366732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Movement patterns and home locations revealed from shared photos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3"/>
          <p:cNvSpPr/>
          <p:nvPr/>
        </p:nvSpPr>
        <p:spPr>
          <a:xfrm>
            <a:off x="6035400" y="3052440"/>
            <a:ext cx="237600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6035400" y="3205800"/>
            <a:ext cx="237600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Device fingerprinting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6035400" y="405108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Camera make, model, and serial number embedded in every image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880" y="3052440"/>
            <a:ext cx="2376000" cy="18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83640" y="3052440"/>
            <a:ext cx="2376000" cy="18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035400" y="3052440"/>
            <a:ext cx="2376000" cy="18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11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INTEGRITY VIOLATIONS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731160" y="659880"/>
            <a:ext cx="7681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Deepfakes and Content Manipulation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6"/>
          <p:cNvSpPr/>
          <p:nvPr/>
        </p:nvSpPr>
        <p:spPr>
          <a:xfrm>
            <a:off x="730440" y="213408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730440" y="2358000"/>
            <a:ext cx="7133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6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Generative Adversarial Networks (GANs) create convincing fake video, audio, and images — threatening trust in digital evidence.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731880" y="3377160"/>
            <a:ext cx="237600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731880" y="352800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Splicing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731880" y="399096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Inserting elements from different sources into one image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1"/>
          <p:cNvSpPr/>
          <p:nvPr/>
        </p:nvSpPr>
        <p:spPr>
          <a:xfrm>
            <a:off x="3383640" y="3377160"/>
            <a:ext cx="237600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3383640" y="352800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Face Swapping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3383640" y="399096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Replacing one person's face in video while preserving movement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6035400" y="3377160"/>
            <a:ext cx="237600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6035400" y="352800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Voice Synthesis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6035400" y="399096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Generating artificial speech that mimics a real person's voice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880" y="3377160"/>
            <a:ext cx="2376000" cy="14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83640" y="3377160"/>
            <a:ext cx="2376000" cy="14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035400" y="3377160"/>
            <a:ext cx="2376000" cy="14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12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COPYRIGHT AND AVAILABILITY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Piracy and Availability Threats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732600" y="1674360"/>
            <a:ext cx="36097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Digital Piracy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732600" y="2186640"/>
            <a:ext cx="3609720" cy="13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spcAft>
                <a:spcPts val="811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Perfect digital copies can be distributed instantly at zero cost — undermining revenue models built on controlled access.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732600" y="3637440"/>
            <a:ext cx="36097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P2P networks, illegal IPTV, and direct download sites are the primary channels.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0"/>
          <p:cNvSpPr/>
          <p:nvPr/>
        </p:nvSpPr>
        <p:spPr>
          <a:xfrm>
            <a:off x="4801680" y="1674360"/>
            <a:ext cx="36097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Availability Attacks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1"/>
          <p:cNvSpPr/>
          <p:nvPr/>
        </p:nvSpPr>
        <p:spPr>
          <a:xfrm>
            <a:off x="4801680" y="2187360"/>
            <a:ext cx="36097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spcAft>
                <a:spcPts val="811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Ransomware encrypts personal photo libraries, demanding payment for recovery.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2"/>
          <p:cNvSpPr/>
          <p:nvPr/>
        </p:nvSpPr>
        <p:spPr>
          <a:xfrm>
            <a:off x="4801680" y="3299040"/>
            <a:ext cx="3609720" cy="9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DDoS attacks overwhelm streaming services — high bandwidth makes multimedia especially vulnerable.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13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DEVICE-LEVEL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IoT and Device Vulnerabilities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731520" y="1672920"/>
            <a:ext cx="6857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6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Smart cameras, TVs, and voice assistants often prioritize convenience over security — creating systemic vulnerabilities at massive scale.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731880" y="2691000"/>
            <a:ext cx="237600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731880" y="284292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Firmware Flaws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731880" y="3303720"/>
            <a:ext cx="2376000" cy="11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Embedded software vulnerabilities allow remote exploitation of cameras and recorders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3383640" y="2691000"/>
            <a:ext cx="237600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3383640" y="2844360"/>
            <a:ext cx="237600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Weak Authentication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3383640" y="369000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Default or absent credentials give attackers easy access to live feeds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4"/>
          <p:cNvSpPr/>
          <p:nvPr/>
        </p:nvSpPr>
        <p:spPr>
          <a:xfrm>
            <a:off x="6035400" y="2691000"/>
            <a:ext cx="237600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6035400" y="284292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Mirai Botnet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6035400" y="3303720"/>
            <a:ext cx="2376000" cy="11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Hundreds of thousands of IP cameras hijacked for DDoS attacks and covert surveillance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880" y="2691000"/>
            <a:ext cx="2376000" cy="18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83640" y="2691000"/>
            <a:ext cx="2376000" cy="184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035400" y="2691000"/>
            <a:ext cx="2376000" cy="18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14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CHAPTER 3 — PRACTICAL IMPLEMENTATION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Metadata Security Analysis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730440" y="1672920"/>
            <a:ext cx="7133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6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A Python tool was built to extract, analyse, and sanitize EXIF metadata — demonstrating the scale of privacy risk in everyday images.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8"/>
          <p:cNvSpPr/>
          <p:nvPr/>
        </p:nvSpPr>
        <p:spPr>
          <a:xfrm>
            <a:off x="731880" y="2691720"/>
            <a:ext cx="237600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731880" y="284292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Extraction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731880" y="330588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Reads all EXIF tags from JPEG files using the Pillow library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3383640" y="2691720"/>
            <a:ext cx="237600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3383640" y="284292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Risk Scoring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3383640" y="3305520"/>
            <a:ext cx="2376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GPS = +40 pts · Device = +20 pts · Timestamp = +10 pts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4"/>
          <p:cNvSpPr/>
          <p:nvPr/>
        </p:nvSpPr>
        <p:spPr>
          <a:xfrm>
            <a:off x="6035400" y="2691720"/>
            <a:ext cx="237600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6035400" y="2842920"/>
            <a:ext cx="237600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Sanitization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035400" y="3305880"/>
            <a:ext cx="23760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Strips all metadata before sharing — adds only 0.05–0.15 s overhead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880" y="2691720"/>
            <a:ext cx="2376000" cy="14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383640" y="2691720"/>
            <a:ext cx="2376000" cy="14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035400" y="2691720"/>
            <a:ext cx="2376000" cy="14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15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TEST RESULTS — 100 IMAGES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Privacy Risk Distribution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732600" y="1771920"/>
            <a:ext cx="1095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54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92%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2102760" y="1674360"/>
            <a:ext cx="219528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1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of images had device make and model embedded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9"/>
          <p:cNvSpPr/>
          <p:nvPr/>
        </p:nvSpPr>
        <p:spPr>
          <a:xfrm>
            <a:off x="732600" y="2783880"/>
            <a:ext cx="1095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54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68%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2102760" y="2686320"/>
            <a:ext cx="219528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1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of smartphone images contained GPS coordinates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732600" y="3696840"/>
            <a:ext cx="1095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54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45%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2"/>
          <p:cNvSpPr/>
          <p:nvPr/>
        </p:nvSpPr>
        <p:spPr>
          <a:xfrm>
            <a:off x="2102760" y="3744360"/>
            <a:ext cx="21952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319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included full timestamp data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3"/>
          <p:cNvSpPr/>
          <p:nvPr/>
        </p:nvSpPr>
        <p:spPr>
          <a:xfrm>
            <a:off x="4845960" y="1672920"/>
            <a:ext cx="3566880" cy="28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4"/>
          <p:cNvSpPr/>
          <p:nvPr/>
        </p:nvSpPr>
        <p:spPr>
          <a:xfrm>
            <a:off x="5144760" y="1672560"/>
            <a:ext cx="32666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204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Risk Level Breakdown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5144040" y="2212200"/>
            <a:ext cx="7999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CRITICAL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8011440" y="2212200"/>
            <a:ext cx="399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28%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7"/>
          <p:cNvSpPr/>
          <p:nvPr/>
        </p:nvSpPr>
        <p:spPr>
          <a:xfrm>
            <a:off x="5144760" y="2558160"/>
            <a:ext cx="3266640" cy="128160"/>
          </a:xfrm>
          <a:prstGeom prst="roundRect">
            <a:avLst>
              <a:gd name="adj" fmla="val 19753"/>
            </a:avLst>
          </a:prstGeom>
          <a:solidFill>
            <a:srgbClr val="dde3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8"/>
          <p:cNvSpPr/>
          <p:nvPr/>
        </p:nvSpPr>
        <p:spPr>
          <a:xfrm>
            <a:off x="5144760" y="2558160"/>
            <a:ext cx="914040" cy="128160"/>
          </a:xfrm>
          <a:prstGeom prst="roundRect">
            <a:avLst>
              <a:gd name="adj" fmla="val 19753"/>
            </a:avLst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5145480" y="2815560"/>
            <a:ext cx="4568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HIGH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0"/>
          <p:cNvSpPr/>
          <p:nvPr/>
        </p:nvSpPr>
        <p:spPr>
          <a:xfrm>
            <a:off x="8011440" y="2815560"/>
            <a:ext cx="399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35%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1"/>
          <p:cNvSpPr/>
          <p:nvPr/>
        </p:nvSpPr>
        <p:spPr>
          <a:xfrm>
            <a:off x="5144760" y="3161520"/>
            <a:ext cx="3266640" cy="128160"/>
          </a:xfrm>
          <a:prstGeom prst="roundRect">
            <a:avLst>
              <a:gd name="adj" fmla="val 19753"/>
            </a:avLst>
          </a:prstGeom>
          <a:solidFill>
            <a:srgbClr val="dde3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2"/>
          <p:cNvSpPr/>
          <p:nvPr/>
        </p:nvSpPr>
        <p:spPr>
          <a:xfrm>
            <a:off x="5144760" y="3161520"/>
            <a:ext cx="1142640" cy="128160"/>
          </a:xfrm>
          <a:prstGeom prst="roundRect">
            <a:avLst>
              <a:gd name="adj" fmla="val 19753"/>
            </a:avLst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3"/>
          <p:cNvSpPr/>
          <p:nvPr/>
        </p:nvSpPr>
        <p:spPr>
          <a:xfrm>
            <a:off x="5143680" y="3419280"/>
            <a:ext cx="738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MEDIUM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4"/>
          <p:cNvSpPr/>
          <p:nvPr/>
        </p:nvSpPr>
        <p:spPr>
          <a:xfrm>
            <a:off x="8011440" y="3419280"/>
            <a:ext cx="399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22%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5"/>
          <p:cNvSpPr/>
          <p:nvPr/>
        </p:nvSpPr>
        <p:spPr>
          <a:xfrm>
            <a:off x="5144760" y="3764880"/>
            <a:ext cx="3266640" cy="128160"/>
          </a:xfrm>
          <a:prstGeom prst="roundRect">
            <a:avLst>
              <a:gd name="adj" fmla="val 19753"/>
            </a:avLst>
          </a:prstGeom>
          <a:solidFill>
            <a:srgbClr val="dde3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6"/>
          <p:cNvSpPr/>
          <p:nvPr/>
        </p:nvSpPr>
        <p:spPr>
          <a:xfrm>
            <a:off x="5144400" y="3764880"/>
            <a:ext cx="718920" cy="128160"/>
          </a:xfrm>
          <a:prstGeom prst="roundRect">
            <a:avLst>
              <a:gd name="adj" fmla="val 19753"/>
            </a:avLst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7"/>
          <p:cNvSpPr/>
          <p:nvPr/>
        </p:nvSpPr>
        <p:spPr>
          <a:xfrm>
            <a:off x="5144400" y="4022640"/>
            <a:ext cx="399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LOW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8"/>
          <p:cNvSpPr/>
          <p:nvPr/>
        </p:nvSpPr>
        <p:spPr>
          <a:xfrm>
            <a:off x="8011440" y="4022640"/>
            <a:ext cx="399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15%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9"/>
          <p:cNvSpPr/>
          <p:nvPr/>
        </p:nvSpPr>
        <p:spPr>
          <a:xfrm>
            <a:off x="5144760" y="4368240"/>
            <a:ext cx="3266640" cy="128160"/>
          </a:xfrm>
          <a:prstGeom prst="roundRect">
            <a:avLst>
              <a:gd name="adj" fmla="val 19753"/>
            </a:avLst>
          </a:prstGeom>
          <a:solidFill>
            <a:srgbClr val="dde3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0"/>
          <p:cNvSpPr/>
          <p:nvPr/>
        </p:nvSpPr>
        <p:spPr>
          <a:xfrm>
            <a:off x="5144040" y="4368240"/>
            <a:ext cx="490320" cy="128160"/>
          </a:xfrm>
          <a:prstGeom prst="roundRect">
            <a:avLst>
              <a:gd name="adj" fmla="val 19753"/>
            </a:avLst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845960" y="1672920"/>
            <a:ext cx="3566880" cy="282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16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CHAPTER 4 — SECURITY MECHANISMS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Encryption for Multimedia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730440" y="1672920"/>
            <a:ext cx="7133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6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Large file sizes mean traditional encryption must be adapted — two strategies balance security with performance.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732600" y="2692080"/>
            <a:ext cx="3609720" cy="15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732600" y="2844720"/>
            <a:ext cx="36097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Full Encryption (AES)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732600" y="3331800"/>
            <a:ext cx="3609720" cy="9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Maximum confidentiality — ideal for storage and secure file transfer. Not suitable for real-time streaming.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4801680" y="2692080"/>
            <a:ext cx="3609720" cy="15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4801680" y="2844720"/>
            <a:ext cx="36097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Selective Encryption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4801680" y="3331800"/>
            <a:ext cx="3609720" cy="9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83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Encrypts only key parts — DC coefficients in JPEG, I-frames in video. Lower cost while maintaining format compliance.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2600" y="2692080"/>
            <a:ext cx="3609720" cy="15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01680" y="2692080"/>
            <a:ext cx="3609720" cy="158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"/>
          <p:cNvSpPr/>
          <p:nvPr/>
        </p:nvSpPr>
        <p:spPr>
          <a:xfrm>
            <a:off x="0" y="5118840"/>
            <a:ext cx="9143640" cy="2340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240" bIns="-212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17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COPYRIGHT PROTECTION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5"/>
          <p:cNvSpPr/>
          <p:nvPr/>
        </p:nvSpPr>
        <p:spPr>
          <a:xfrm>
            <a:off x="731160" y="659880"/>
            <a:ext cx="7681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Digital Watermarking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6"/>
          <p:cNvSpPr/>
          <p:nvPr/>
        </p:nvSpPr>
        <p:spPr>
          <a:xfrm>
            <a:off x="730440" y="1448640"/>
            <a:ext cx="732960" cy="187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7"/>
          <p:cNvSpPr/>
          <p:nvPr/>
        </p:nvSpPr>
        <p:spPr>
          <a:xfrm>
            <a:off x="730440" y="1672920"/>
            <a:ext cx="7133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96"/>
              </a:lnSpc>
              <a:spcAft>
                <a:spcPts val="2024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Hides ownership information inside the content itself — so attribution travels with the file even after distribution.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731880" y="2691720"/>
            <a:ext cx="1747440" cy="14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9"/>
          <p:cNvSpPr/>
          <p:nvPr/>
        </p:nvSpPr>
        <p:spPr>
          <a:xfrm>
            <a:off x="731880" y="2842920"/>
            <a:ext cx="17474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Imperceptible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0"/>
          <p:cNvSpPr/>
          <p:nvPr/>
        </p:nvSpPr>
        <p:spPr>
          <a:xfrm>
            <a:off x="731880" y="3304800"/>
            <a:ext cx="174744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Does not degrade visible quality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1"/>
          <p:cNvSpPr/>
          <p:nvPr/>
        </p:nvSpPr>
        <p:spPr>
          <a:xfrm>
            <a:off x="2709360" y="2691720"/>
            <a:ext cx="1747440" cy="14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2"/>
          <p:cNvSpPr/>
          <p:nvPr/>
        </p:nvSpPr>
        <p:spPr>
          <a:xfrm>
            <a:off x="2709360" y="2842920"/>
            <a:ext cx="17474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Robust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3"/>
          <p:cNvSpPr/>
          <p:nvPr/>
        </p:nvSpPr>
        <p:spPr>
          <a:xfrm>
            <a:off x="2709360" y="3305520"/>
            <a:ext cx="174744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Survives compression and format conversion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4"/>
          <p:cNvSpPr/>
          <p:nvPr/>
        </p:nvSpPr>
        <p:spPr>
          <a:xfrm>
            <a:off x="4686840" y="2691720"/>
            <a:ext cx="1747440" cy="14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5"/>
          <p:cNvSpPr/>
          <p:nvPr/>
        </p:nvSpPr>
        <p:spPr>
          <a:xfrm>
            <a:off x="4686840" y="2842920"/>
            <a:ext cx="17474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Capacity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6"/>
          <p:cNvSpPr/>
          <p:nvPr/>
        </p:nvSpPr>
        <p:spPr>
          <a:xfrm>
            <a:off x="4686840" y="3305520"/>
            <a:ext cx="174744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Sufficient bits embedded to identify the owner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7"/>
          <p:cNvSpPr/>
          <p:nvPr/>
        </p:nvSpPr>
        <p:spPr>
          <a:xfrm>
            <a:off x="6664320" y="2691720"/>
            <a:ext cx="1747440" cy="14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8"/>
          <p:cNvSpPr/>
          <p:nvPr/>
        </p:nvSpPr>
        <p:spPr>
          <a:xfrm>
            <a:off x="6664320" y="2842920"/>
            <a:ext cx="17474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025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20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Secure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9"/>
          <p:cNvSpPr/>
          <p:nvPr/>
        </p:nvSpPr>
        <p:spPr>
          <a:xfrm>
            <a:off x="6664320" y="3305520"/>
            <a:ext cx="174744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17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Cannot be detected or removed without the key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880" y="2691720"/>
            <a:ext cx="1747440" cy="141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709360" y="2691720"/>
            <a:ext cx="1747440" cy="141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686840" y="2691720"/>
            <a:ext cx="1747440" cy="141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64320" y="2691720"/>
            <a:ext cx="1747440" cy="141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0" y="0"/>
            <a:ext cx="9143640" cy="6400800"/>
          </a:xfrm>
          <a:prstGeom prst="rect">
            <a:avLst/>
          </a:prstGeom>
          <a:solidFill>
            <a:srgbClr val="f5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"/>
          <p:cNvSpPr/>
          <p:nvPr/>
        </p:nvSpPr>
        <p:spPr>
          <a:xfrm>
            <a:off x="720" y="0"/>
            <a:ext cx="70920" cy="5143320"/>
          </a:xfrm>
          <a:prstGeom prst="rect">
            <a:avLst/>
          </a:prstGeom>
          <a:solidFill>
            <a:srgbClr val="1a2b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"/>
          <p:cNvSpPr/>
          <p:nvPr/>
        </p:nvSpPr>
        <p:spPr>
          <a:xfrm>
            <a:off x="8451720" y="4795560"/>
            <a:ext cx="41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729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18 / 18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"/>
          <p:cNvSpPr/>
          <p:nvPr/>
        </p:nvSpPr>
        <p:spPr>
          <a:xfrm>
            <a:off x="731160" y="30780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607"/>
              </a:spcAft>
              <a:tabLst>
                <a:tab algn="l" pos="0"/>
              </a:tabLst>
            </a:pPr>
            <a:r>
              <a:rPr b="1" lang="en-US" sz="1400" strike="noStrike" u="none">
                <a:solidFill>
                  <a:srgbClr val="1a2b4a"/>
                </a:solidFill>
                <a:effectLst/>
                <a:uFillTx/>
                <a:latin typeface="Source Sans 3"/>
                <a:ea typeface="Source Sans 3"/>
              </a:rPr>
              <a:t>CHAPTER 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"/>
          <p:cNvSpPr/>
          <p:nvPr/>
        </p:nvSpPr>
        <p:spPr>
          <a:xfrm>
            <a:off x="731160" y="659880"/>
            <a:ext cx="7681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400"/>
              </a:lnSpc>
              <a:spcAft>
                <a:spcPts val="811"/>
              </a:spcAft>
              <a:tabLst>
                <a:tab algn="l" pos="0"/>
              </a:tabLst>
            </a:pPr>
            <a:r>
              <a:rPr b="1" lang="en-US" sz="36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Conclusions and Recommendations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732600" y="2341080"/>
            <a:ext cx="36097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1012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Key Findings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7"/>
          <p:cNvSpPr/>
          <p:nvPr/>
        </p:nvSpPr>
        <p:spPr>
          <a:xfrm>
            <a:off x="732600" y="2880000"/>
            <a:ext cx="36097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spcAft>
                <a:spcPts val="607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Metadata vulnerabilities are systematic — most consumer images expose private data by default.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8"/>
          <p:cNvSpPr/>
          <p:nvPr/>
        </p:nvSpPr>
        <p:spPr>
          <a:xfrm>
            <a:off x="732600" y="3966480"/>
            <a:ext cx="36097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spcAft>
                <a:spcPts val="607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Deepfakes are outpacing detection — cryptographic signatures alone cannot restore trust.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9"/>
          <p:cNvSpPr/>
          <p:nvPr/>
        </p:nvSpPr>
        <p:spPr>
          <a:xfrm>
            <a:off x="732600" y="5053680"/>
            <a:ext cx="36097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IoT devices continue to ship with insecure defaults at massive scale.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0"/>
          <p:cNvSpPr/>
          <p:nvPr/>
        </p:nvSpPr>
        <p:spPr>
          <a:xfrm>
            <a:off x="4801680" y="2341080"/>
            <a:ext cx="36097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spcAft>
                <a:spcPts val="1012"/>
              </a:spcAft>
              <a:tabLst>
                <a:tab algn="l" pos="0"/>
              </a:tabLst>
            </a:pPr>
            <a:r>
              <a:rPr b="1" lang="en-US" sz="21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Recommendations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1"/>
          <p:cNvSpPr/>
          <p:nvPr/>
        </p:nvSpPr>
        <p:spPr>
          <a:xfrm>
            <a:off x="4801680" y="2880000"/>
            <a:ext cx="36097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spcAft>
                <a:spcPts val="607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Users: disable GPS tagging, sanitize metadata, use multi-factor authentication.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2"/>
          <p:cNvSpPr/>
          <p:nvPr/>
        </p:nvSpPr>
        <p:spPr>
          <a:xfrm>
            <a:off x="4801680" y="3967200"/>
            <a:ext cx="36097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spcAft>
                <a:spcPts val="607"/>
              </a:spcAft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Platforms: auto-strip metadata on upload, deploy end-to-end encryption.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3"/>
          <p:cNvSpPr/>
          <p:nvPr/>
        </p:nvSpPr>
        <p:spPr>
          <a:xfrm>
            <a:off x="4801680" y="4717080"/>
            <a:ext cx="360972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4a5568"/>
                </a:solidFill>
                <a:effectLst/>
                <a:uFillTx/>
                <a:latin typeface="Source Sans 3"/>
                <a:ea typeface="Source Sans 3"/>
              </a:rPr>
              <a:t>Manufacturers: adopt privacy-by-design, enforce mandatory security patching.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4"/>
          <p:cNvSpPr/>
          <p:nvPr/>
        </p:nvSpPr>
        <p:spPr>
          <a:xfrm>
            <a:off x="731160" y="5930640"/>
            <a:ext cx="7681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60"/>
              </a:lnSpc>
              <a:spcBef>
                <a:spcPts val="1621"/>
              </a:spcBef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1a2b4a"/>
                </a:solidFill>
                <a:effectLst/>
                <a:uFillTx/>
                <a:latin typeface="Playfair Display"/>
                <a:ea typeface="Playfair Display"/>
              </a:rPr>
              <a:t>University of Bamenda — College of Technology — Group One — May 2026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LibreOffice/25.8.2.2$Linux_X86_64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2026-05-08T04:51:29Z</dcterms:created>
  <dc:creator>PptxGenJS</dc:creator>
  <dc:description/>
  <dc:language>en-US</dc:language>
  <cp:lastModifiedBy/>
  <dcterms:modified xsi:type="dcterms:W3CDTF">2026-05-08T06:22:34Z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